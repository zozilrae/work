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A2332"/>
                </a:solidFill>
                <a:latin typeface="Malgun Gothic"/>
              </a:rPr>
              <a:t>주파수에 따른 발열량과 석출 위험 (개념도)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발열량 (Re Z, 상대값)</c:v>
                </c:pt>
              </c:strCache>
            </c:strRef>
          </c:tx>
          <c:spPr>
            <a:solidFill>
              <a:srgbClr val="1F6FB2"/>
            </a:solidFill>
            <a:ln w="38100" cap="flat">
              <a:solidFill>
                <a:srgbClr val="1F6F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FB2"/>
              </a:solidFill>
              <a:ln w="9525" cap="flat">
                <a:solidFill>
                  <a:srgbClr val="1F6F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0.01 Hz</c:v>
                  </c:pt>
                  <c:pt idx="1">
                    <c:v>0.1 Hz</c:v>
                  </c:pt>
                  <c:pt idx="2">
                    <c:v>1 Hz</c:v>
                  </c:pt>
                  <c:pt idx="3">
                    <c:v>10 Hz</c:v>
                  </c:pt>
                  <c:pt idx="4">
                    <c:v>100 Hz</c:v>
                  </c:pt>
                  <c:pt idx="5">
                    <c:v>1 kHz</c:v>
                  </c:pt>
                  <c:pt idx="6">
                    <c:v>10 kHz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85</c:v>
                </c:pt>
                <c:pt idx="2">
                  <c:v>60</c:v>
                </c:pt>
                <c:pt idx="3">
                  <c:v>35</c:v>
                </c:pt>
                <c:pt idx="4">
                  <c:v>20</c:v>
                </c:pt>
                <c:pt idx="5">
                  <c:v>12</c:v>
                </c:pt>
                <c:pt idx="6">
                  <c:v>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리튬 석출 위험도 (상대값)</c:v>
                </c:pt>
              </c:strCache>
            </c:strRef>
          </c:tx>
          <c:spPr>
            <a:solidFill>
              <a:srgbClr val="B3402F"/>
            </a:solidFill>
            <a:ln w="38100" cap="flat">
              <a:solidFill>
                <a:srgbClr val="B340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3402F"/>
              </a:solidFill>
              <a:ln w="9525" cap="flat">
                <a:solidFill>
                  <a:srgbClr val="B340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0.01 Hz</c:v>
                  </c:pt>
                  <c:pt idx="1">
                    <c:v>0.1 Hz</c:v>
                  </c:pt>
                  <c:pt idx="2">
                    <c:v>1 Hz</c:v>
                  </c:pt>
                  <c:pt idx="3">
                    <c:v>10 Hz</c:v>
                  </c:pt>
                  <c:pt idx="4">
                    <c:v>100 Hz</c:v>
                  </c:pt>
                  <c:pt idx="5">
                    <c:v>1 kHz</c:v>
                  </c:pt>
                  <c:pt idx="6">
                    <c:v>10 kHz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92</c:v>
                </c:pt>
                <c:pt idx="2">
                  <c:v>66</c:v>
                </c:pt>
                <c:pt idx="3">
                  <c:v>34</c:v>
                </c:pt>
                <c:pt idx="4">
                  <c:v>14</c:v>
                </c:pt>
                <c:pt idx="5">
                  <c:v>5</c:v>
                </c:pt>
                <c:pt idx="6">
                  <c:v>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A8D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승온율 (°C/min)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32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공랭 (외부)</c:v>
                  </c:pt>
                  <c:pt idx="1">
                    <c:v>PTC 접촉 (외부)</c:v>
                  </c:pt>
                  <c:pt idx="2">
                    <c:v>액랭+HV히터 (외부)</c:v>
                  </c:pt>
                  <c:pt idx="3">
                    <c:v>양방향 펄스 −15 °C</c:v>
                  </c:pt>
                  <c:pt idx="4">
                    <c:v>고주파 AC 833 Hz</c:v>
                  </c:pt>
                  <c:pt idx="5">
                    <c:v>온도 적응형 자가발열</c:v>
                  </c:pt>
                  <c:pt idx="6">
                    <c:v>고속 자가예열 시스템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</c:v>
                </c:pt>
                <c:pt idx="1">
                  <c:v>1.5</c:v>
                </c:pt>
                <c:pt idx="2">
                  <c:v>4.5</c:v>
                </c:pt>
                <c:pt idx="3">
                  <c:v>6.38</c:v>
                </c:pt>
                <c:pt idx="4">
                  <c:v>4.1</c:v>
                </c:pt>
                <c:pt idx="5">
                  <c:v>6.2</c:v>
                </c:pt>
                <c:pt idx="6">
                  <c:v>17.14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32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33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b"/>
        <c:majorGridlines>
          <c:spPr>
            <a:ln w="12700" cap="flat">
              <a:solidFill>
                <a:srgbClr val="EAEE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A2332"/>
                </a:solidFill>
                <a:latin typeface="Malgun Gothic"/>
              </a:rPr>
              <a:t>주파수에 따른 발열 파워 (개념도)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단위 전극 면적당 발열량 (상대값)</c:v>
                </c:pt>
              </c:strCache>
            </c:strRef>
          </c:tx>
          <c:spPr>
            <a:solidFill>
              <a:srgbClr val="BF5F17"/>
            </a:solidFill>
            <a:ln w="44450" cap="flat">
              <a:solidFill>
                <a:srgbClr val="BF5F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F5F17"/>
              </a:solidFill>
              <a:ln w="9525" cap="flat">
                <a:solidFill>
                  <a:srgbClr val="BF5F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 Hz</c:v>
                  </c:pt>
                  <c:pt idx="1">
                    <c:v>1 kHz</c:v>
                  </c:pt>
                  <c:pt idx="2">
                    <c:v>10 kHz</c:v>
                  </c:pt>
                  <c:pt idx="3">
                    <c:v>0.1 MHz</c:v>
                  </c:pt>
                  <c:pt idx="4">
                    <c:v>0.2 MHz</c:v>
                  </c:pt>
                  <c:pt idx="5">
                    <c:v>1 MHz</c:v>
                  </c:pt>
                  <c:pt idx="6">
                    <c:v>7 MHz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10</c:v>
                </c:pt>
                <c:pt idx="2">
                  <c:v>45</c:v>
                </c:pt>
                <c:pt idx="3">
                  <c:v>92</c:v>
                </c:pt>
                <c:pt idx="4">
                  <c:v>100</c:v>
                </c:pt>
                <c:pt idx="5">
                  <c:v>70</c:v>
                </c:pt>
                <c:pt idx="6">
                  <c:v>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AEE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리튬이온전지와 전고체전지의 펄스 히팅은 이름은 같지만 목적·구동방식·주파수 대역·제약조건이 모두 다른 기술이다. 이 발표는 두 기술을 분리해 설명하고 성숙도 격차를 정량적으로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'같은 펄스 히팅이라는 이름 아래 사실상 다른 기술'이라는 점. 목적·구동방식·제약·성숙도 네 축에서 모두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포인트: 리튬이온은 '전류원' 구동이다. 전류를 정해놓고 임피던스의 실수부에서 발열을 얻는다. 뒤에 나올 전고체의 전압 구동과 대비된다.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발표의 기술적 핵심. 리튬이온은 전류를 정하고 Re(Z)에서 발열을 얻는다. 전고체 UHFSH는 전압을 정하고 어드미턴스 실수부에서 발열을 얻는다. 수식의 형태가 다르기 때문에 최적 주파수가 반대 방향으로 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발표에서 가장 조심해야 할 슬라이드. '50 K/min, 1분 내 70도'는 모두 시뮬레이션 값이다. 실제 측정된 온도 상승은 2분에 약 1도 수준이다. 이 구분을 흐리면 기술 성숙도를 크게 과대평가하게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나올 만한 지점: '그럼 리튬이온도 MHz로 올리면 되지 않나?' → 리튬이온은 전류 구동이고 Re(Z)가 옴 저항으로 수렴해 발열이 사라진다. 전고체는 전압 구동이라 |Z| 감소가 발열 증가로 이어진다. 구동 방식이 다르기 때문에 같은 처방이 통하지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669280" cy="5669280"/>
          </a:xfrm>
          <a:prstGeom prst="ellipse">
            <a:avLst/>
          </a:prstGeom>
          <a:solidFill>
            <a:srgbClr val="134A79">
              <a:alpha val="38000"/>
            </a:srgbClr>
          </a:solidFill>
          <a:ln w="12700">
            <a:solidFill>
              <a:srgbClr val="134A7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3291840"/>
            <a:ext cx="4206240" cy="4206240"/>
          </a:xfrm>
          <a:prstGeom prst="ellipse">
            <a:avLst/>
          </a:prstGeom>
          <a:solidFill>
            <a:srgbClr val="8C4410">
              <a:alpha val="42000"/>
            </a:srgbClr>
          </a:solidFill>
          <a:ln w="12700">
            <a:solidFill>
              <a:srgbClr val="8C441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BRIEFING  ·  TR-2026-002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18745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펄스 히팅 기술 비교 분석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76148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C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리튬이온전지</a:t>
            </a:r>
            <a:pPr indent="0" marL="0">
              <a:buNone/>
            </a:pPr>
            <a:r>
              <a:rPr lang="en-US" sz="2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vs  </a:t>
            </a:r>
            <a:pPr indent="0" marL="0">
              <a:buNone/>
            </a:pPr>
            <a:r>
              <a:rPr lang="en-US" sz="2800" b="1" dirty="0">
                <a:solidFill>
                  <a:srgbClr val="F0B2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전고체전지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56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개념 · 성숙도 · 공통점과 차이점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40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· 특허 · 업체 발표 기반 조사분석   |   2026. 09. 18.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 — 같은 이름, 다른 기술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 Hz ~ 1 kHz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 펄스 주파수 대역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88536" y="1572768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17136" y="1719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 ~ 7 MHz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 UHFSH 주파수 대역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28432" y="1572768"/>
            <a:ext cx="3520440" cy="1170432"/>
          </a:xfrm>
          <a:prstGeom prst="roundRect">
            <a:avLst>
              <a:gd name="adj" fmla="val 4688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57032" y="1719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9  vs  TRL 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57032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성숙도 격차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365760" cy="365760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가열의 목적이 다르다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67328" y="298094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리튬이온은 영하에서 충전을 가능하게 하려고 데운다. 전고체는 상온에서도 쓸 수 없어서 작동온도(60~80 °C)까지 데운다.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831336"/>
            <a:ext cx="365760" cy="365760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3776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구동 방식이 다르다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67328" y="37581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리튬이온은 전류 구동(P = I²·ReZ), 전고체는 전압 구동(P = V²·ReZ/|Z|²). 이 차이가 최적 주파수를 5~6 자릿수 갈라놓는다.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608576"/>
            <a:ext cx="365760" cy="365760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553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조건이 다르다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767328" y="453542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리튬이온의 벽은 리튬 석출(음극 전위). 전고체의 벽은 전해질 전압 안정 윈도우와 셀 인덕턴스다.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385816"/>
            <a:ext cx="365760" cy="36576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5404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53309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성숙도 격차가 크다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767328" y="531266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리튬이온은 이미 양산(CATL 3세대 선싱, BYD). 전고체는 대칭셀 개념실증 단계이며 팩 성능은 전부 시뮬레이션 값이다.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470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CEAF6"/>
          </a:solidFill>
          <a:ln w="12700">
            <a:solidFill>
              <a:srgbClr val="DCEA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56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317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리튬이온전지 펄스 히팅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저온 문제 정의와 발열 원리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상충과 리튬 석출 제약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토폴로지 5종 · 성능 벤치마크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동향 · 업계 적용 · 성숙도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5321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 5 – 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88536" y="160020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18470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AE8D6"/>
          </a:solidFill>
          <a:ln w="12700">
            <a:solidFill>
              <a:srgbClr val="FAE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44568" y="1856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3317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전고체전지 펄스 히팅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31546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상온에서도 가열이 필요한 이유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UHFSH 개념 (Joule 2025, LBNL)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비단조성과 최적점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실측과 시뮬레이션의 구분 · 성숙도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5321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 15 – 20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28432" y="160020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4464" y="18470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7EBF0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84464" y="1856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23317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분석 및 시사점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31546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 5가지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차이점 종합 비교표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차이의 물리적 근원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성숙도 로드맵 · 제언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5321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 21 – 26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822960"/>
            <a:ext cx="5120640" cy="5120640"/>
          </a:xfrm>
          <a:prstGeom prst="ellipse">
            <a:avLst/>
          </a:prstGeom>
          <a:solidFill>
            <a:srgbClr val="134A79">
              <a:alpha val="40000"/>
            </a:srgbClr>
          </a:solidFill>
          <a:ln w="12700">
            <a:solidFill>
              <a:srgbClr val="134A7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3317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77824" y="272491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리튬이온전지 펄스 히팅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576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영하 환경에서 충전을 가능하게 만드는 기술 — 이미 양산 단계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문제 정의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저온에서 무엇이 막히는가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806440" cy="2148840"/>
          </a:xfrm>
          <a:prstGeom prst="roundRect">
            <a:avLst>
              <a:gd name="adj" fmla="val 2553"/>
            </a:avLst>
          </a:prstGeom>
          <a:solidFill>
            <a:srgbClr val="DCEAF6"/>
          </a:solidFill>
          <a:ln w="9525">
            <a:solidFill>
              <a:srgbClr val="DCEAF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— 전하이동 저항의 비대칭적 증가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76272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R_ct ∝ exp(E_a / RT),   E_a ≈ 50 ~ 70 kJ/mol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−20 °C에서 전하이동 저항은 상온 대비 한 자릿수 이상 증가하는 반면, 1 kHz 옴 저항 증가는 2~3배에 그친다. 이 비대칭이 펄스 히팅 설계의 출발점이다.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1572768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66560" y="1700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용량 저하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97510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−20 °C에서 상온 대비 20~40 % 손실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89720" y="1572768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372600" y="1700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제한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72600" y="197510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내부저항 5~10배 증가 → 주행 성능 저하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0" y="2670048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금지 구간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072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0~5 °C에서 0.1C 수준으로 제한, 0 °C 이하 사실상 충전 불가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89720" y="2670048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7260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 석출 위험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3072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저온 충전 시 음극 전위가 0 V(vs Li/Li⁺) 이하로 하강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950208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13308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본질 — “충전 전에 얼마나 빨리 데울 수 있는가”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49884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가열(PTC·액랭·공랭)은 케이스 → 젤리롤로 열이 전도되어야 한다. 젤리롤 적층 방향 열전도도는 약 0.9 W/(m·K)로, 표면 온도가 목표에 도달해도 충전 가능 여부를 좌우하는 음극 계면은 여전히 차갑다. 펄스 히팅은 전극 계면 전체에서 동시에 발열하므로 이 지연을 우회한다.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Int. J. Heat and Mass Transfer 135 (2019); BMS 저온 충전 제한 관행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원리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전류 구동 줄열 — 리튬이온 펄스 히팅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16202E"/>
          </a:solidFill>
          <a:ln w="9525">
            <a:solidFill>
              <a:srgbClr val="16202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73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발열량 지배식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396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= Σ  I ²n,rms · Re{ Z ( n f₀ , T, SOC ) }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066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전류 진폭이 지배 변수 — 발열은 I 의 제곱에 비례한다. 셀에 흘릴 수 있는 전류(C-rate)가 곧 승온율을 결정한다.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57276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773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단열 승온율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1396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dT/dt  =  I ²rms · Re{Z} / ( m · c_p 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7066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Re{Z}는 온도가 오르면 감소 → 승온율이 스스로 체감한다. 폭주적 가열이 구조적으로 어려운 자기 안정화(self-limiting) 특성.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0782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예제 — 50 Ah 각형 LFP 셀 (m = 1.4 kg, c_p = 1,100 J/kg·K)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204825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" y="46817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4C = 200 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5102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 전류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79776" y="4462272"/>
            <a:ext cx="204825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907792" y="46817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mΩ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889504" y="5102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−20 °C Re{Z} @1 Hz (가정)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10912" y="4462272"/>
            <a:ext cx="204825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138928" y="46817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W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5102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발열량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42048" y="4462272"/>
            <a:ext cx="2048256" cy="1207008"/>
          </a:xfrm>
          <a:prstGeom prst="roundRect">
            <a:avLst>
              <a:gd name="adj" fmla="val 4545"/>
            </a:avLst>
          </a:prstGeom>
          <a:solidFill>
            <a:srgbClr val="DCEAF6"/>
          </a:solidFill>
          <a:ln w="9525">
            <a:solidFill>
              <a:srgbClr val="1F6FB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70064" y="46817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7.8 °C/min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51776" y="5102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단열 승온율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473184" y="4462272"/>
            <a:ext cx="204825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01200" y="46817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154 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582912" y="5102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−20 → 0 °C 소요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차수 추정(order-of-magnitude). 실제 설계는 대상 셀의 실측 EIS 데이터로 재수행 필요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설계 제약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상충 — 발열량과 안전 마진은 반대로 움직인다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27632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700784"/>
            <a:ext cx="446227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88352" y="1901952"/>
            <a:ext cx="146304" cy="146304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26096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저주파  f &lt; f_ct  (0.01 ~ 1 Hz)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388352" y="21579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패러데이 반응이 실제로 진행 → 발열 크지만 석출 위험 최대. 반드시 양방향 펄스로 분극을 상쇄해야 한다.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78040" y="3072384"/>
            <a:ext cx="446227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88352" y="3273552"/>
            <a:ext cx="146304" cy="146304"/>
          </a:xfrm>
          <a:prstGeom prst="ellipse">
            <a:avLst/>
          </a:prstGeom>
          <a:solidFill>
            <a:srgbClr val="E3A81F"/>
          </a:solidFill>
          <a:ln w="12700">
            <a:solidFill>
              <a:srgbClr val="E3A8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26096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절충 대역  f ≈ f_ct  (1 ~ 100 Hz)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388352" y="35295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양방향 펄스(BPC) 연구가 위치하는 구간. 듀티비·진폭비로 마진을 확보한다.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78040" y="4443984"/>
            <a:ext cx="446227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88352" y="4645152"/>
            <a:ext cx="146304" cy="14630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6096" y="4572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고주파  f ≫ f_ct  (100 Hz ~ kHz)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388352" y="49011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전기이중층이 전류를 분류 → 석출 위험 낮음. 대신 Re{Z}가 작아 3~5C 대진폭이 필요하다.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57241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f_ct = 1 / (2π·R_ct·C_dl)  →  −20 °C에서 0.1 ~ 10 Hz 대역으로 하강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개념도 — 실측 데이터가 아니며 셀 화학·온도·SOC에 따라 형상이 달라짐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파형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파형 3종 — 단방향 · 양방향 · 교류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단방향 펄스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762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Unidirectional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42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98064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구현이 가장 단순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방전 펄스만 사용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9319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87952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 소모가 큼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전압 하한 도달 빠름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분극 누적 → 열화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5285232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E7EBF0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52943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보조적 용도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88536" y="160020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DCEAF6"/>
          </a:solidFill>
          <a:ln w="9525">
            <a:solidFill>
              <a:srgbClr val="1F6FB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44568" y="18288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펄스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1762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Bidirectional (BPC)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542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62856" y="2798064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 전하이동 상쇄 → SOC 소모 최소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가역열이 한 주기에 상쇄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듀티비로 분극 균형 제어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9319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4187952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전력변환 필요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44568" y="5285232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44568" y="52943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연구·양산 주류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28432" y="160020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84464" y="18288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교류 (AC)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21762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Sinusoidal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84464" y="2542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798064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고조파 없음 → 발열 예측 정확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고주파화 용이 → 석출 위험 ↓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39319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4187952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정현파 생성 부담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대진폭 필요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84464" y="5285232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E7EBF0"/>
          </a:solidFill>
          <a:ln w="12700">
            <a:solidFill>
              <a:srgbClr val="E7EB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4464" y="52943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고주파 전략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펄스는 가역열(엔트로피 항)이 한 주기 평균에서 상쇄되어, 비가역열만 누적시키는 효율적 발열 방식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구현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토폴로지 5종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2044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47088"/>
            <a:ext cx="402336" cy="402336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8836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전원 기반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95728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충전기가 펄스 공급. 부품 추가·SOC 소모 없음. 단 커넥터 연결 시에만 사용 가능.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성숙도 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88536" y="1627632"/>
            <a:ext cx="352044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847088"/>
            <a:ext cx="402336" cy="402336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38344" y="18836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 분할 + DC/DC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395728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팩을 두 그룹으로 나눠 양방향 DC/DC로 에너지 왕복. 제어 자유도 최대, 고전류 DC/DC 비용 부담.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성숙도 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28432" y="1627632"/>
            <a:ext cx="3520440" cy="1883664"/>
          </a:xfrm>
          <a:prstGeom prst="roundRect">
            <a:avLst>
              <a:gd name="adj" fmla="val 2913"/>
            </a:avLst>
          </a:prstGeom>
          <a:solidFill>
            <a:srgbClr val="DCEAF6"/>
          </a:solidFill>
          <a:ln w="9525">
            <a:solidFill>
              <a:srgbClr val="1F6FB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1847088"/>
            <a:ext cx="402336" cy="402336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66176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18836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모터·인버터 재구성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2395728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 중성점을 팩 중점에 연결, 권선을 인덕터로 활용. 추가 부품 사실상 없음. BYD 채택.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주류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12464"/>
            <a:ext cx="352044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3931920"/>
            <a:ext cx="402336" cy="402336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39684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스위치드 커패시터 / LC 공진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448056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공진 경로로 고주파 대전류 순환. 컴팩트하고 kHz 구현에 유리. 커패시터 정격이 제약.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52486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성숙도 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88536" y="3712464"/>
            <a:ext cx="352044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6280" y="3931920"/>
            <a:ext cx="402336" cy="402336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2628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38344" y="39684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내장형 (참고)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44568" y="448056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내부 50 µm 니켈 포일 + 제3 단자. −20 °C → 0 °C 20초. 단 셀 구조 변경 필요.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44568" y="52486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펄스 아님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28432" y="3712464"/>
            <a:ext cx="3520440" cy="1883664"/>
          </a:xfrm>
          <a:prstGeom prst="roundRect">
            <a:avLst>
              <a:gd name="adj" fmla="val 2913"/>
            </a:avLst>
          </a:prstGeom>
          <a:solidFill>
            <a:srgbClr val="16202E"/>
          </a:solidFill>
          <a:ln w="9525">
            <a:solidFill>
              <a:srgbClr val="16202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66176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권고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84464" y="4297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6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 민감 / 기존 플랫폼 → (C)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6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고제어자유도 요구 → (B)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6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팩·ESS 모듈 → (D)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Energy Reports (2020); J. Energy Storage (2021, 2023); CN116454472A; Sustainability (2026)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성능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벤치마크 — 승온율 비교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00784"/>
            <a:ext cx="4005072" cy="1188720"/>
          </a:xfrm>
          <a:prstGeom prst="roundRect">
            <a:avLst>
              <a:gd name="adj" fmla="val 4615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6384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~ 7 °C/min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1762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 레벨에서 현실적인 설계 목표. 17 °C/min급은 소형 셀·고단열 조건의 값이다.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35240" y="3072384"/>
            <a:ext cx="4005072" cy="1188720"/>
          </a:xfrm>
          <a:prstGeom prst="roundRect">
            <a:avLst>
              <a:gd name="adj" fmla="val 4615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63840" y="3218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승온 효율 ≈ 30 %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5478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 에너지의 2/3 이상이 전력변환 손실·구조물 가열·방열로 소모된다. 팩 단열이 효율에 직결.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35240" y="4443984"/>
            <a:ext cx="4005072" cy="1188720"/>
          </a:xfrm>
          <a:prstGeom prst="roundRect">
            <a:avLst>
              <a:gd name="adj" fmla="val 4615"/>
            </a:avLst>
          </a:prstGeom>
          <a:solidFill>
            <a:srgbClr val="FCEDEA"/>
          </a:solidFill>
          <a:ln w="9525">
            <a:solidFill>
              <a:srgbClr val="E7C3BC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863840" y="45902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열화 데이터 부족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49194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30~90 사이클에서 “유의한 열화 없음”. 차량 수명(수백~수천 회 예열)을 커버하지 못한다.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조건(셀 화학·용량·단열·초기 SOC)이 문헌마다 달라 직접 비교는 불가 — 달성 범위의 참고치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지식재산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동향 — BYD가 15년 앞서 자리를 잡았다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384048"/>
          </a:xfrm>
          <a:prstGeom prst="roundRect">
            <a:avLst>
              <a:gd name="adj" fmla="val 47619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4505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BYD, 배터리 가열 회로 특허 출원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72384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US9065293B2 (우선일 2010-12-23) — 변압기를 에너지 저장체로 쓰는 충·방전 교번 가열 회로. 관련 패밀리 다수(US20130134146A1, EP2469683A1).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2424" y="1691640"/>
            <a:ext cx="2615184" cy="384048"/>
          </a:xfrm>
          <a:prstGeom prst="roundRect">
            <a:avLst>
              <a:gd name="adj" fmla="val 47619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2424" y="170992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2424" y="2249424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93592" y="24505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내장형 자가발열 상용 연구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072384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Penn State ACB — 니켈 포일 구조 (Nature, 2016). 펄스가 아닌 저항 발열이나 “내부 가열” 개념의 기준점.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1691640"/>
            <a:ext cx="2615184" cy="384048"/>
          </a:xfrm>
          <a:prstGeom prst="roundRect">
            <a:avLst>
              <a:gd name="adj" fmla="val 47619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70992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2020~22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2249424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37376" y="24505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구동계 재활용 토폴로지 확산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072384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US11290045 — 모터에 토크 ≈ 0을 유지하며 펄스 전류를 인가해 자가발열. 인버터·권선 재구성 계열이 급증.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1691640"/>
            <a:ext cx="2615184" cy="384048"/>
          </a:xfrm>
          <a:prstGeom prst="roundRect">
            <a:avLst>
              <a:gd name="adj" fmla="val 47619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79992" y="170992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2023~26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79992" y="2249424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81160" y="245059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제어·안전 로직으로 경쟁 이동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072384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CN116454472A — 전기구동 인버터 재구성 + LC 공진, 2단 열폭주 보호 로직 포함. CATL 계열 가열 회로·BMS 특허 다수 등재.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DCEAF6"/>
          </a:solidFill>
          <a:ln w="9525">
            <a:solidFill>
              <a:srgbClr val="1F6FB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시사점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490118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모터·인버터 재구성 계열은 BYD·CATL 특허가 밀집한 영역이다. 개발 착수 전 FTO(Freedom-to-Operate) 조사가 선행되어야 하며, 회피 설계 여지는 회로 구성보다 제어·보호 로직 쪽에 남아 있을 가능성이 높다.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Google Patents / USPTO 공개공보 — 본 조사는 개괄이며 정식 FTO 조사를 대체하지 않음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업계 적용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적용 현황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CATL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49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3세대 선싱 LFP (2026.04 Tech Day)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980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−30 °C에서 9분 내 98 % 충전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펄스 자가발열 + 셀 내부저항 0.25 mΩ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 급속충전 사이클 후 SOH 90 %+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4370832"/>
            <a:ext cx="3017520" cy="1225296"/>
          </a:xfrm>
          <a:prstGeom prst="roundRect">
            <a:avLst>
              <a:gd name="adj" fmla="val 4478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4480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4718304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저항을 낮춰 필요 승온폭 자체를 줄이고, 남은 격차만 펄스로 메우는 통합 설계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8536" y="160020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44568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BYD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249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구동계 기반 고주파 펄스 승온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834640"/>
            <a:ext cx="2980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모터·인버터를 펄스 발생기로 재활용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히터 없이 저원가 구현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2010년부터 축적된 가열 회로 특허군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44568" y="4370832"/>
            <a:ext cx="3017520" cy="1225296"/>
          </a:xfrm>
          <a:prstGeom prst="roundRect">
            <a:avLst>
              <a:gd name="adj" fmla="val 4478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4480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4718304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추가 최소화 전략. NVH·EMI를 제어로 해결한 것이 진입장벽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28432" y="160020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84464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현대차그룹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2249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컨디셔닝 모드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834640"/>
            <a:ext cx="2980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내비 목적지 연동 사전 예열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배터리 히터로 냉각수 가열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전기적 자가발열 미적용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84464" y="4370832"/>
            <a:ext cx="3017520" cy="1225296"/>
          </a:xfrm>
          <a:prstGeom prst="roundRect">
            <a:avLst>
              <a:gd name="adj" fmla="val 4478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49056" y="4480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4718304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제어 소프트웨어 역량은 확보. 가열 하드웨어는 외부 가열 방식에 머물러 있음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CarNewsChina·Electrek (2026.04); BYD 특허군 및 기술 해설; 현대자동차그룹 공식 기술 자료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성숙도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 펄스 히팅 — TRL 9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2286000"/>
          </a:xfrm>
          <a:prstGeom prst="roundRect">
            <a:avLst>
              <a:gd name="adj" fmla="val 2400"/>
            </a:avLst>
          </a:prstGeom>
          <a:solidFill>
            <a:srgbClr val="DCEAF6"/>
          </a:solidFill>
          <a:ln w="9525">
            <a:solidFill>
              <a:srgbClr val="1F6FB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운용 환경에서 검증된 시스템 — 양산 적용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3924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3924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0980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0980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5092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5092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2148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2148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6260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6260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3316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3316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3291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2010년 특허 출원 → 2026년 −30 °C 9분 충전 양산 제품까지 15년이 소요되었다.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52360" y="1645920"/>
            <a:ext cx="4187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699248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제품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99248" y="20482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CATL 3세대 선싱, BYD 구동계 승온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2715768"/>
            <a:ext cx="4187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699248" y="2843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성숙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699248" y="31181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BYD 2010년 우선일, 패밀리 다수 등록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52360" y="3785616"/>
            <a:ext cx="4187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699248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축적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699248" y="41879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2019년 이후 실험·모델링 논문 다수, 재현성 확보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4855464"/>
            <a:ext cx="4187952" cy="914400"/>
          </a:xfrm>
          <a:prstGeom prst="roundRect">
            <a:avLst>
              <a:gd name="adj" fmla="val 6000"/>
            </a:avLst>
          </a:prstGeom>
          <a:solidFill>
            <a:srgbClr val="FCEDEA"/>
          </a:solidFill>
          <a:ln w="9525">
            <a:solidFill>
              <a:srgbClr val="E7C3BC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699248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공백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699248" y="52578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펄스 자가발열을 직접 규정하는 표준은 아직 없음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133088"/>
            <a:ext cx="66751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22960" y="43159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 — 양산 기술이지만 완결되지 않았다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" y="46634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열화 검증 — 문헌은 30~90 사이클, 차량 수명 등가 데이터 부재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 스케일 불균일 — 셀 간 임피던스 편차가 온도 편차로 증폭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NVH·EMI — 모터·인버터 재구성 방식의 실용상 최대 장벽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822960"/>
            <a:ext cx="5120640" cy="5120640"/>
          </a:xfrm>
          <a:prstGeom prst="ellipse">
            <a:avLst/>
          </a:prstGeom>
          <a:solidFill>
            <a:srgbClr val="8C4410">
              <a:alpha val="42000"/>
            </a:srgbClr>
          </a:solidFill>
          <a:ln w="12700">
            <a:solidFill>
              <a:srgbClr val="8C441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3317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B2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77824" y="272491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전고체전지 펄스 히팅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5760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상온에서도 쓸 수 없는 전지를 작동온도까지 끌어올리는 기술 — 개념 실증 단계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문제 정의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전고체는 왜 상온에서도 가열이 필요한가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AE8D6"/>
          </a:solidFill>
          <a:ln w="9525">
            <a:solidFill>
              <a:srgbClr val="FAE8D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4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층위가 다르다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03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리튬이온은 영하에서만 문제가 된다. 전고체는 상온(25 °C)에서 이미 이온 수송이 느려 방전 에너지밀도가 크게 떨어지고, 차량 시동조차 어려울 수 있다.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09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상온 이온전도도 — 전해질 계열별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56816"/>
            <a:ext cx="537667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55664" y="2231136"/>
            <a:ext cx="137160" cy="1371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황화물계 (Li₆PS₅Cl 등)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3042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~10⁻² S/cm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21579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상온 구동 가능 — 가열 의존도 낮음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2734056"/>
            <a:ext cx="537667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3008376"/>
            <a:ext cx="137160" cy="137160"/>
          </a:xfrm>
          <a:prstGeom prst="ellipse">
            <a:avLst/>
          </a:prstGeom>
          <a:solidFill>
            <a:srgbClr val="E3A81F"/>
          </a:solidFill>
          <a:ln w="12700">
            <a:solidFill>
              <a:srgbClr val="E3A8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816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산화물계 (LLZO, LATP)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081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10⁻⁴ ~ 10⁻³ S/cm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9352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황화물 대비 1~2 자릿수 낮음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3511296"/>
            <a:ext cx="537667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3785616"/>
            <a:ext cx="137160" cy="137160"/>
          </a:xfrm>
          <a:prstGeom prst="ellipse">
            <a:avLst/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593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산화물계 (LAGP)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858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~10⁻⁴ S/cm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UHFSH 실증에 사용된 전해질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4288536"/>
            <a:ext cx="537667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5664" y="4562856"/>
            <a:ext cx="137160" cy="13716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고분자계 (PEO 등)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636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상온에서 매우 낮음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4489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50~80 °C 유지가 사실상 전제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18688"/>
            <a:ext cx="5486400" cy="2560320"/>
          </a:xfrm>
          <a:prstGeom prst="roundRect">
            <a:avLst>
              <a:gd name="adj" fmla="val 2143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04672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온도를 50 °C 올렸을 때의 효과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785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고분자 전해질 이온전도도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703320" y="3785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~ 2 자릿수 상승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261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LLZO · LAGP 이온전도도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703320" y="42611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5배 상승 → 액체 전해질 상온 수준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47365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전극/전해질 계면 저항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703320" y="47365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 자릿수 감소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212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방전 에너지밀도 (25 °C 기준)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703320" y="5212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2배 이상 확보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Zhang et al., Joule 9(7), 2025; PatSnap 전해질 비교 (2026); ACS Nano (2023)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현실 확인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상용 전고체는 “가열을 전제”로 운용된다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943600" cy="4114800"/>
          </a:xfrm>
          <a:prstGeom prst="roundRect">
            <a:avLst>
              <a:gd name="adj" fmla="val 1333"/>
            </a:avLst>
          </a:prstGeom>
          <a:solidFill>
            <a:srgbClr val="16202E"/>
          </a:solidFill>
          <a:ln w="9525">
            <a:solidFill>
              <a:srgbClr val="16202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 Solutions (Bolloré) LMP®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042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 메탈 폴리머 전고체 — Bluebus, Mercedes eCitaro 등 상용 버스에 실제 운용 중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95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~ 80 °C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844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작동 온도 — 외부 기온과 무관하게 유지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4041648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6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저온에서 미충전 방치 시, 사용 전 내부 작동온도 도달까지 대기 필요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6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외부에 부착된 가열 소자로 승온 — 즉 “외부 가열” 방식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6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−20 ~ +60 °C 외기에서 별도 공조 없이 운용 가능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1627632"/>
            <a:ext cx="4919472" cy="1920240"/>
          </a:xfrm>
          <a:prstGeom prst="roundRect">
            <a:avLst>
              <a:gd name="adj" fmla="val 2857"/>
            </a:avLst>
          </a:prstGeom>
          <a:solidFill>
            <a:srgbClr val="FAE8D6"/>
          </a:solidFill>
          <a:ln w="9525">
            <a:solidFill>
              <a:srgbClr val="BF5F1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967728" y="1810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4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의미하는 것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2176272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전고체에서 “가열”은 저온 대응 옵션이 아니라 상시 운용 조건이다. 따라서 가열 수단의 효율·속도·에너지 소모가 리튬이온보다 훨씬 직접적으로 시스템 성능을 좌우한다.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3749040"/>
            <a:ext cx="491947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67728" y="39319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외부 가열은 전고체에 부적합하다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86016" y="4297680"/>
            <a:ext cx="44074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 열질량이 커서 승온 램프율이 매우 느림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대류 가열 시스템 자체의 부피·중량 부담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내장 히터(니켈 포일)는 침습적 — 제조 공정 변경과 안전성 부담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BlueSolutions / BlueBus 공식 사양; electrive (2021); Joule 9(7), 2025 서론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UHFSH — 초고주파 자가발열 (Joule 2025, LBNL)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16202E"/>
          </a:solidFill>
          <a:ln w="9525">
            <a:solidFill>
              <a:srgbClr val="16202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73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발열량 지배식 — 전압 구동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396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= V ²  ·  Z_Re / | Z | ²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066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정전압 여기이므로 발열은 어드미턴스 실수부에 비례한다. |Z|가 작아지면 오히려 발열이 커진다 — 리튬이온과 정반대의 주파수 선호가 생기는 이유.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57276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AE8D6"/>
          </a:solidFill>
          <a:ln w="9525">
            <a:solidFill>
              <a:srgbClr val="FAE8D6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773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4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 — 반응 전류의 우회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1396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 =  i_rxn  +  i_inf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7066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주파수가 올라가면 계면 전기이중층(커패시터)으로 흐르는 전류 i_inf 가 커지고 반응 전류 i_rxn 는 줄어든다. 즉 전지에 화학적 변화를 거의 주지 않으면서 발열만 얻는다.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0599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전고체가 가열에 유리한 구조적 이유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261518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4944" y="4645152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~ 20 %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50840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Wh당 열질량이 리튬이온보다 작다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46704" y="4443984"/>
            <a:ext cx="261518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93008" y="4645152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 / 2.2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50840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LLZTO / LAGP 열전도도 (W/m·K)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4443984"/>
            <a:ext cx="2615184" cy="123444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91072" y="4645152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50840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액체 전해질 열전도도 (W/m·K)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42832" y="4443984"/>
            <a:ext cx="261518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089136" y="4645152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~100 °C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070848" y="50840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전고체의 안정 사이클 상한 (LIB는 ~60 °C)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B. Zhang, D. Chalise, Y. Zeng, S. Kaur, C. Dames, R. S. Prasher, “Solid-state batteries enabled by ultra-high-frequency self-heating,” Joule 9(7), 2025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설계 제약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MHz인가 — 발열량이 비단조 곡선을 그린다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700784"/>
            <a:ext cx="446227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88352" y="1847088"/>
            <a:ext cx="310896" cy="310896"/>
          </a:xfrm>
          <a:prstGeom prst="ellipse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88352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90688" y="18653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저주파 구간 — 발열 부족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388352" y="21945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계면·전하수송 임피던스가 지배해 |Z|가 크다. 전압 구동에서는 전류 자체가 흐르지 못해 발열이 작다.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3072384"/>
            <a:ext cx="4462272" cy="1188720"/>
          </a:xfrm>
          <a:prstGeom prst="roundRect">
            <a:avLst>
              <a:gd name="adj" fmla="val 4615"/>
            </a:avLst>
          </a:prstGeom>
          <a:solidFill>
            <a:srgbClr val="FAE8D6"/>
          </a:solidFill>
          <a:ln w="9525">
            <a:solidFill>
              <a:srgbClr val="BF5F1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88352" y="3218688"/>
            <a:ext cx="310896" cy="310896"/>
          </a:xfrm>
          <a:prstGeom prst="ellipse">
            <a:avLst/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88352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90688" y="32369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구간 — 이중층이 저항을 단락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88352" y="35661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전기이중층이 전하이동 저항을 우회시켜 |Z|의 실수·허수부가 모두 감소 → 발열 급증. 팩 조건 최적점 약 0.2 MHz.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78040" y="4443984"/>
            <a:ext cx="446227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88352" y="4590288"/>
            <a:ext cx="310896" cy="31089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88352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790688" y="46085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초고주파 구간 — 인덕턴스 지배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388352" y="4937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다층 구조의 인덕턴스가 커지며 |Z|가 다시 상승 → 발열 감소. 대용량 셀일수록 이 한계가 빨리 온다.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178040" y="5870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4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제약: 전해질 전압 안정 윈도우 (LCO|Li 기준 4.35 ~ 2.35 V) → 여기 진폭 ±1 V로 제한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개념도 — Joule 9(7), 2025 Fig. 4b의 정성적 거동을 재현한 것이며 실측 수치 곡선이 아님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근거의 층위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실측과 시뮬레이션을 반드시 구분해야 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2E7D5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9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(측정)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677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대칭 LAGP 셀 수준에서만 확인됨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24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구성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7249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LAGP 350 µm + Li 100 µm 양측, 12 mm 직경, 23.3 mAh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 조건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33284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±2 V 정현파, 0.5 ~ 7 MHz 스윕, 에어로젤 단열, 350 kPa 가압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단층 셀 결과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2분간 ΔT = 0.45 → 0.8 °C (주파수 상승에 따라)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35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적층 셀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45354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2분간 최대 ΔT ≈ 1 °C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38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5138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COMSOL 전기-열 연성 모델과 잘 일치 (h만 피팅)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9632" y="160020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E3A81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181051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BF0D8"/>
          </a:solidFill>
          <a:ln w="12700">
            <a:solidFill>
              <a:srgbClr val="FBF0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1819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71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(예측)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2677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 인용되는 수치는 대부분 여기에 속한다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2724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1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승온율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18704" y="27249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K/min (약 1 °C/s) — 리튬이온 AC 가열의 약 10배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1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 승온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918704" y="33284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kWh 팩, 25 µm 전해질 기준 1분 내 70 °C 이상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1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소모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918704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 kWh 팩 ΔT 40 °C 기준 전체 에너지의 3.4 %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73952" y="4535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1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주파수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918704" y="45354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±1 V 구형파, 0.2 MHz (400 µm 전해질 모델)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5138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1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이득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918704" y="5138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°C 외기에서 방전 에너지 2배 이상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Joule 9(7), 2025 — 실험은 대칭셀(전극 반응 없음) 기준이며, 실제 full-cell·팩 검증은 아직 보고되지 않음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성숙도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 펄스 히팅 — TRL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2286000"/>
          </a:xfrm>
          <a:prstGeom prst="roundRect">
            <a:avLst>
              <a:gd name="adj" fmla="val 2400"/>
            </a:avLst>
          </a:prstGeom>
          <a:solidFill>
            <a:srgbClr val="FAE8D6"/>
          </a:solidFill>
          <a:ln w="9525">
            <a:solidFill>
              <a:srgbClr val="BF5F1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C4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4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실증 — 핵심 기능이 실험실에서 확인된 단계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3924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3924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0980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0980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5092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5092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2148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2148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6260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6260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33160" y="2615184"/>
            <a:ext cx="61569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33160" y="2944368"/>
            <a:ext cx="61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3291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프리프린트 → 2025년 Joule 게재. 단일 연구그룹(UC Berkeley·LBNL)의 성과가 사실상 전부다.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52360" y="1645920"/>
            <a:ext cx="4187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699248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Full-cell 미검증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99248" y="202996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실험은 대칭 Li|LAGP|Li 셀 — 실제 양극이 있는 전지에서는 미확인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52360" y="2715768"/>
            <a:ext cx="4187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699248" y="2825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 성능 = 시뮬레이션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699248" y="309981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K/min, 3.4 % 에너지 소모는 모두 모델 예측값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52360" y="3785616"/>
            <a:ext cx="4187952" cy="914400"/>
          </a:xfrm>
          <a:prstGeom prst="roundRect">
            <a:avLst>
              <a:gd name="adj" fmla="val 6000"/>
            </a:avLst>
          </a:prstGeom>
          <a:solidFill>
            <a:srgbClr val="FCEDEA"/>
          </a:solidFill>
          <a:ln w="9525">
            <a:solidFill>
              <a:srgbClr val="E7C3BC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699248" y="3895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MHz급 전력 H/W 부재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699248" y="416966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 V·수백 A를 0.2 MHz로 구동하는 차량용 전력변환 장치가 존재하지 않음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52360" y="4855464"/>
            <a:ext cx="41879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699248" y="4965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열화·수명 데이터 없음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699248" y="523951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UHF 여기가 계면·입계에 미치는 영향 미평가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133088"/>
            <a:ext cx="66751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22960" y="43159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그럼에도 주목해야 하는 이유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" y="46634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비침습 — 셀 재료·구조 변경 없이 적용 가능 (기존 제조 공정 유지)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 상용화의 필수 조건인 “상온 시동” 문제를 직접 겨냥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 양산 시점(2027~2030)과 개발 리드타임이 맞물린다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판정은 공개 문헌 근거에 기반한 본 조사의 평가임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비교 분석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 — 같은 물리, 같은 설계 철학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762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임피던스 줄열이라는 동일 원리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79776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전지 자체를 저항체로 삼아 내부에서 발열시킨다. 외부 열원에서 케이스를 거쳐 전달하는 경로가 없다.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88536" y="1645920"/>
            <a:ext cx="352044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44568" y="1828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1762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비침습(non-intrusive) 전략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779776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셀의 재료·구조를 바꾸지 않는다. 니켈 포일 내장형과 달리 기존 제조 공정과 공급망을 그대로 쓴다.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28432" y="1645920"/>
            <a:ext cx="352044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84464" y="1828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1762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교번 여기로 순 전하이동 억제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779776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충·방전을 교번시켜 순 SOC 변화를 최소화한다. 손실분만 열로 남기는 것이 두 기술의 공통 설계 의도다.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52044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39319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2793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EIS가 설계의 출발점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882896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온도·SOC별 임피던스 스펙트럼에서 발열량을 계산하고 최적 주파수를 도출한다. 전기-열 연성 모델로 검증한다.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88536" y="3749040"/>
            <a:ext cx="352044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44568" y="39319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42793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전압 한계가 최종 제약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4882896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형태는 다르지만 둘 다 “셀에 걸리는 전압을 넘기지 않는 범위”가 진폭의 상한을 결정한다.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28432" y="3749040"/>
            <a:ext cx="352044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84464" y="39319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42793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소모는 수 % 수준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4882896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 3~10 %, 전고체 3.4 % (예측). 외부 가열 대비 시스템 효율에서 유리하다.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비교 분석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차이점 종합 비교표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108960" cy="402336"/>
          </a:xfrm>
          <a:prstGeom prst="rect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항목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3320" y="1536192"/>
            <a:ext cx="4114800" cy="402336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9624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리튬이온전지 (LIB)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0" y="1536192"/>
            <a:ext cx="3776472" cy="402336"/>
          </a:xfrm>
          <a:prstGeom prst="rect">
            <a:avLst/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10144" y="155448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전고체전지 (SSB)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75104"/>
            <a:ext cx="11091672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9933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가열의 목적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영하에서 충전을 가능하게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10144" y="199339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상온에서 사용 가능한 성능 확보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23591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온도 / 목표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849624" y="2359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−30 ~ 0 °C  →  0 ~ 15 °C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10144" y="235915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°C (상온)  →  60 ~ 80 °C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706624"/>
            <a:ext cx="11091672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27249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구동 방식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849624" y="2724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전류 구동 (C-rate 지정)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010144" y="272491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전압 구동 (±1 ~ 2 V 지정)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" y="30906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발열 지배식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849624" y="30906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= I ²·Re{Z}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010144" y="309067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= V ²·Z_Re / |Z|²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38144"/>
            <a:ext cx="11091672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" y="34564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대역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49624" y="3456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 Hz ~ 1 kHz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10144" y="345643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10⁵ ~ 10⁶ Hz (0.2 MHz 최적)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94944" y="38221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특성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849624" y="3822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발열 ↔ 석출 상충 (단조 감소)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10144" y="382219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— 최적점 존재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169664"/>
            <a:ext cx="11091672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" y="41879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제약 조건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849624" y="4187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 석출 (음극 전위 ≥ 0 V)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010144" y="418795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전해질 전압 윈도우 + 셀 인덕턴스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94944" y="4553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승온율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849624" y="4553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~ 7 °C/min (실측, 팩)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010144" y="455371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K/min (시뮬) / 실측 ≈ 1 °C·2min⁻¹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901184"/>
            <a:ext cx="11091672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4944" y="49194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소모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849624" y="49194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~ 10 %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010144" y="491947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3.4 % (예측)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94944" y="52852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하드웨어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849624" y="5285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인버터·모터 재구성, DC/DC (기존 부품)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010144" y="528523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MHz급 전력변환 — 차량용 미확립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632704"/>
            <a:ext cx="11091672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4944" y="56509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성숙도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3849624" y="5650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9 — 양산 적용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010144" y="5650992"/>
            <a:ext cx="3502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3 — 대칭셀 개념 실증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 수치는 다수 문헌의 실측 범위, 전고체 수치는 Joule 9(7), 2025 단일 연구의 실측 및 모델 예측값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해석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차이의 근원 — 전류를 정하는가, 전압을 정하는가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DCEAF6"/>
          </a:solidFill>
          <a:ln w="9525">
            <a:solidFill>
              <a:srgbClr val="1F6FB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739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A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 — 전류 구동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= I ² · Re{Z}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24912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Re{Z}는 주파수가 오르면 단조 감소 → 저주파일수록 발열이 크다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저주파는 패러데이 반응을 실제로 일으켜 리튬 석출을 부른다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발열과 안전이 정면으로 상충 → 제약 최적화 문제가 된다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572768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AE8D6"/>
          </a:solidFill>
          <a:ln w="9525">
            <a:solidFill>
              <a:srgbClr val="BF5F17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73952" y="17739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4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 — 전압 구동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19456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= V ² · Z_Re / |Z| ²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24912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주파수가 오르면 |Z|가 더 빠르게 감소 → 발열이 오히려 커진다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고주파는 반응 전류를 억제 → 화학적 손상이 줄어든다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발열과 안전이 같은 방향 → 상충이 없다. 한계는 인덕턴스뿐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16202E"/>
          </a:solidFill>
          <a:ln w="9525">
            <a:solidFill>
              <a:srgbClr val="16202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791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결론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75488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기술은 “펄스로 전지를 데운다”는 표현만 같을 뿐, 구동 방식이 달라 최적 주파수가 5~6 자릿수 떨어져 있다. 리튬이온의 설계는 석출을 피하는 타협이고, 전고체의 설계는 인덕턴스 한계 직전까지 주파수를 올리는 최적화다. 두 기술의 제어기·전력변환 장치는 서로 호환되지 않는다.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성숙도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성숙도 격차와 개발 리드타임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 펄스 히팅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5892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5892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8884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884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1876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876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868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868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7860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7860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0852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0852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3844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3844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68360" y="178308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68360" y="211226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1810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9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24871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2010 특허 → 2016 개념 실증 → 2020 토폴로지 확산 → 2026 양산 (−30 °C 9분 충전)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15468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3337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 펄스 히팅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2900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2900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05892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5892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8884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8884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1876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1876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868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868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7860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7860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0852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0852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3844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3844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468360" y="3337560"/>
            <a:ext cx="575056" cy="310896"/>
          </a:xfrm>
          <a:prstGeom prst="roundRect">
            <a:avLst>
              <a:gd name="adj" fmla="val 58824"/>
            </a:avLst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68360" y="3666744"/>
            <a:ext cx="575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509760" y="33649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3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40416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프리프린트 → 2025 Joule 게재 (대칭셀 실증) → full-cell·팩 검증 미착수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470916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768096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68096" y="51023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 양산 개시 목표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68096" y="53675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삼성SDI 2027년 하반기 양산 목표, 토요타 2027~2028년 투입 예정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288536" y="470916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4507992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2027~28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507992" y="51023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가열 요구사항이 표면화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4507992" y="53675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실차 저온·상온 성능 검증 과정에서 열관리가 병목으로 부상할 가능성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028432" y="470916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8247888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2029~30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8247888" y="51023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UHFSH 적용 판단 시점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8247888" y="53675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MHz 전력변환 하드웨어 확보 여부가 채택을 좌우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시점은 각 사 공개 발표 기준이며 변동 가능. UHFSH 적용 시점은 본 조사의 추정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651760"/>
            <a:ext cx="4206240" cy="4206240"/>
          </a:xfrm>
          <a:prstGeom prst="ellipse">
            <a:avLst/>
          </a:prstGeom>
          <a:solidFill>
            <a:srgbClr val="223349">
              <a:alpha val="55000"/>
            </a:srgbClr>
          </a:solidFill>
          <a:ln w="12700">
            <a:solidFill>
              <a:srgbClr val="22334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75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 및 제언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91672" cy="1261872"/>
          </a:xfrm>
          <a:prstGeom prst="roundRect">
            <a:avLst>
              <a:gd name="adj" fmla="val 4348"/>
            </a:avLst>
          </a:prstGeom>
          <a:solidFill>
            <a:srgbClr val="223349"/>
          </a:solidFill>
          <a:ln w="12700">
            <a:solidFill>
              <a:srgbClr val="2233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4708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85623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82880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리튬이온 펄스 히팅은 지금 착수할 기술이다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17627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9. 경쟁사는 이미 양산 중이고 우리는 외부 가열에 머물러 있다. 셀 특성화(3전극 EIS) → 제약 최적화 모델 → 가속 열화 시험 순으로 즉시 시작한다. FTO 조사 병행 필수.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1091672" cy="1261872"/>
          </a:xfrm>
          <a:prstGeom prst="roundRect">
            <a:avLst>
              <a:gd name="adj" fmla="val 4348"/>
            </a:avLst>
          </a:prstGeom>
          <a:solidFill>
            <a:srgbClr val="223349"/>
          </a:solidFill>
          <a:ln w="12700">
            <a:solidFill>
              <a:srgbClr val="2233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26440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3A81F"/>
          </a:solidFill>
          <a:ln w="12700">
            <a:solidFill>
              <a:srgbClr val="E3A8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327355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24612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 열관리는 “설계 요구사항”으로 미리 정의한다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59359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전고체는 가열이 상시 운용 조건이다. 셀 개발과 열관리 설계를 분리하지 말고, 양산 목표(2027~)에 맞춰 가열 방식 선택지를 지금 열어둔다.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462272"/>
            <a:ext cx="11091672" cy="1261872"/>
          </a:xfrm>
          <a:prstGeom prst="roundRect">
            <a:avLst>
              <a:gd name="adj" fmla="val 4348"/>
            </a:avLst>
          </a:prstGeom>
          <a:solidFill>
            <a:srgbClr val="223349"/>
          </a:solidFill>
          <a:ln w="12700">
            <a:solidFill>
              <a:srgbClr val="2233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68172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BF5F17"/>
          </a:solidFill>
          <a:ln w="12700">
            <a:solidFill>
              <a:srgbClr val="BF5F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69087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6634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UHFSH는 “주시”하되 투자 판단은 유보한다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501091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연구그룹의 대칭셀 결과이며 팩 수치는 전부 시뮬레이션이다. 결정적 병목은 전지가 아니라 MHz급 차량용 전력변환 하드웨어다. 이 분야의 진전을 트리거로 삼는다.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943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3A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오독 위험: 전고체 UHFSH의 “50 K/min, 에너지 3.4 %”를 검증된 성능으로 인용하는 것. 실측된 온도 상승은 2분에 약 1 °C 수준이다.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77840" cy="4187952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73736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논문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84832"/>
            <a:ext cx="502920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Zhang, D. Chalise, Y. Zeng, S. Kaur, C. Dames, R. S. Prasher, “Solid-state batteries enabled by ultra-high-frequency self-heating,” Joule 9(7), 2025. doi:10.1016/j.joule.2025.101973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“Experimental study on pulse self-heating of lithium-ion battery at low temperature,” Int. J. Heat and Mass Transfer 135, 696 (2019)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“Experimental study on self-heating strategy of lithium-ion battery at low temperatures based on bidirectional pulse current,” Applied Energy (2024)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“High-Frequency AC Heating Strategy of EV Power Battery Pack in Low-Temperature Environment,” ACS Omega (2024)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 Health-Aware AC Heating Strategy With Lithium Plating Criterion for Batteries at Low Temperatures,” IEEE (2023)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C.-Y. Wang et al., “Lithium-ion battery structure that self-heats at low temperatures,” Nature (2016)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36792" y="1572768"/>
            <a:ext cx="53035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92824" y="173736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084832"/>
            <a:ext cx="4754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US9065293B2 — Battery heating circuits and methods using transformers (BYD, 우선일 2010-12-23)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US11290045 — Devices, systems, and methods for self-heating batteries (모터 무토크 펄스)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CN116454472A — 전기구동 인버터 재구성 기반 배터리 자가발열 시스템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US20130134146A1 / EP2469683A1 — BYD 가열 회로 패밀리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36792" y="3822192"/>
            <a:ext cx="53035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92824" y="3986784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5F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 발표 · 산업 자료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11112" y="4334256"/>
            <a:ext cx="4754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CATL 3세대 선싱 LFP 발표 (2026.04 Tech Day) — CarNewsChina, Electrek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BlueSolutions / BlueBus LMP® 공식 사양 (작동온도 50~80 °C)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현대자동차그룹 배터리 승온·컨디셔닝 기술 공식 자료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삼성SDI 전고체 2027년 양산 목표 (Korea JoongAng Daily, 2026)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6B7A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PatSnap, “Solid-state electrolytes 2026: oxide vs sulfide vs polymer”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자료의 정량 수치는 2026년 9월 기준 공개 문헌·특허·업체 발표에 근거하며, 시험 조건이 상이해 직접 비교는 유효하지 않음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펄스 히팅 기술 비교: 리튬이온 vs 전고체</dc:title>
  <dc:subject>PptxGenJS Presentation</dc:subject>
  <dc:creator>Technical Research</dc:creator>
  <cp:lastModifiedBy>Technical Research</cp:lastModifiedBy>
  <cp:revision>1</cp:revision>
  <dcterms:created xsi:type="dcterms:W3CDTF">2026-09-18T06:20:22Z</dcterms:created>
  <dcterms:modified xsi:type="dcterms:W3CDTF">2026-09-18T06:20:22Z</dcterms:modified>
</cp:coreProperties>
</file>